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Sample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Future value (</a:t>
                </a:r>
                <a14:m>
                  <m:oMath xmlns:m="http://schemas.openxmlformats.org/officeDocument/2006/math">
                    <m:r>
                      <m:t>F</m:t>
                    </m:r>
                    <m:r>
                      <m:t>V</m:t>
                    </m:r>
                  </m:oMath>
                </a14:m>
                <a:r>
                  <a:rPr/>
                  <a:t>) of a cash flow, where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is the stated discount rate per period and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is the number of compounding periods, is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r>
                        <m:t>V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r</m:t>
                              </m:r>
                            </m:e>
                          </m:d>
                        </m:e>
                        <m:sup>
                          <m:r>
                            <m:t>t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(1)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the number of compounding periods t is very large, that is,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, we compound the initial cash flow on a continuous basis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r>
                        <m:t>V</m:t>
                      </m:r>
                      <m:sSup>
                        <m:e>
                          <m:r>
                            <m:t>e</m:t>
                          </m:r>
                        </m:e>
                        <m:sup>
                          <m:r>
                            <m:t>r</m:t>
                          </m:r>
                          <m:r>
                            <m:t>t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(2)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dividend cash flows continue to grow at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indefinitely, then we may rewrite Equation 10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∞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g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(13)</a:t>
                </a:r>
              </a:p>
              <a:p>
                <a:pPr lvl="0" indent="0" marL="0">
                  <a:buNone/>
                </a:pPr>
                <a:r>
                  <a:rPr/>
                  <a:t>The example in Exhibit 6 shows a company with an initial higher short-term dividend growth of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s</m:t>
                        </m:r>
                      </m:sub>
                    </m:sSub>
                  </m:oMath>
                </a14:m>
                <a:r>
                  <a:rPr/>
                  <a:t> for the first three years, followed by lower long-term growth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g</m:t>
                            </m:r>
                          </m:e>
                          <m:sub>
                            <m:r>
                              <m:t>l</m:t>
                            </m:r>
                          </m:sub>
                        </m:sSub>
                        <m:r>
                          <m:rPr>
                            <m:nor/>
                            <m:sty m:val="p"/>
                          </m:rPr>
                          <m:t>, where </m:t>
                        </m:r>
                        <m:sSub>
                          <m:e>
                            <m:r>
                              <m:t>g</m:t>
                            </m:r>
                          </m:e>
                          <m:sub>
                            <m:r>
                              <m:t>s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&gt;</m:t>
                        </m:r>
                        <m:sSub>
                          <m:e>
                            <m:r>
                              <m:t>g</m:t>
                            </m:r>
                          </m:e>
                          <m:sub>
                            <m:r>
                              <m:t>l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indefinitely thereafter. If we generalize the initial growth phase to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periods followed by indefinite slower growth at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, we obtain a modified version of Equation 14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sSub>
                                        <m:e>
                                          <m: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t>s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∞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n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sSub>
                                        <m:e>
                                          <m: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t>l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j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j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(15)</a:t>
                </a:r>
              </a:p>
              <a:p>
                <a:pPr lvl="0" indent="0" marL="0">
                  <a:buNone/>
                </a:pPr>
                <a:r>
                  <a:rPr/>
                  <a:t>Note that the second expression in Equation 15 involves constant growth starting in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periods, for which we can substitute the geometric series simplification: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sSub>
                                        <m:e>
                                          <m: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t>s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n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r</m:t>
                                  </m:r>
                                </m:e>
                              </m:d>
                            </m:e>
                            <m:sup>
                              <m:r>
                                <m:t>n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(16)</a:t>
                </a:r>
              </a:p>
              <a:p>
                <a:pPr lvl="0" indent="0" marL="0">
                  <a:buNone/>
                </a:pPr>
                <a:r>
                  <a:rPr/>
                  <a:t>where the stock value of the stock in n periods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n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is referred to as the terminal value) and is equal to the following: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n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m:t>r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g</m:t>
                              </m:r>
                            </m:e>
                            <m:sub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(17)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Testing Sample</dc:title>
  <dc:creator/>
  <cp:keywords/>
  <dcterms:created xsi:type="dcterms:W3CDTF">2025-12-17T21:40:06Z</dcterms:created>
  <dcterms:modified xsi:type="dcterms:W3CDTF">2025-12-17T21:40:06Z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ormat">
    <vt:lpwstr>html</vt:lpwstr>
  </property>
</Properties>
</file>